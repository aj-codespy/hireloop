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63040"/>
            <a:ext cx="1188720" cy="11887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240280" y="149961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24028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74151"/>
                </a:solidFill>
              </a:rPr>
              <a:t>AI Interview Infrastructure 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4028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00"/>
                </a:solidFill>
              </a:rPr>
              <a:t>Screen. Interview. Score. Hire. — All in One Platform.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Hiring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traditional hiring fails at scale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60–80%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Time</a:t>
            </a:r>
            <a:endParaRPr lang="en-US" sz="1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Wasted on Scheduling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First-round interviews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9404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59404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Drop-off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9404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Due to scheduling delays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008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33008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3008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human interviewers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611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$50–200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006611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Interview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06611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 time cost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High-volume hiring (50–500+ roles/year) overwhelms recruiting teams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Inconsistent evaluation — human bias, fatigue, varying standards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No audit trail — no record of why candidates were hired/rejected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Candidate experience suffers: long waits, scheduling ping-pong, no feedback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Existing ATS/HRIS manage workflow but don't CONDUCT interviews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Building in-house AI interview infrastructure takes 12–18 months and $500K+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HireLoop: AI Interview Infrastructure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platform. Voice AI + Proctoring + Scoring + Human Orchestration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🎙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05256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AI Interviews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Q&amp;A with TTS/STT, bilingual EN/HI, pre-rendered audio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3" name="Text 11"/>
          <p:cNvSpPr/>
          <p:nvPr/>
        </p:nvSpPr>
        <p:spPr>
          <a:xfrm>
            <a:off x="3678860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78860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Proctoring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78860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 detection, gaze tracking, tab-switch, AI snapshot analysis — cheating probability 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8" name="Text 16"/>
          <p:cNvSpPr/>
          <p:nvPr/>
        </p:nvSpPr>
        <p:spPr>
          <a:xfrm>
            <a:off x="6452464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52464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Scoring 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52464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Per-question scores (0–10), overall weighted score, strengths/concerns, red flags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23" name="Text 21"/>
          <p:cNvSpPr/>
          <p:nvPr/>
        </p:nvSpPr>
        <p:spPr>
          <a:xfrm>
            <a:off x="9226067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🤝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26067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Round Orchestration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26067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sync, self-scheduling, scorecards, panel interviews, offer management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70332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&lt;15 min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85800" y="429768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First</a:t>
            </a:r>
            <a:endParaRPr lang="en-US" sz="1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457200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→ Interview link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59404" y="370332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&gt;85%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3459404" y="429768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</a:t>
            </a:r>
            <a:endParaRPr lang="en-US" sz="1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59404" y="457200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→ Complete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3008" y="370332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≥ 0.7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233008" y="429768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↔ Human</a:t>
            </a:r>
            <a:endParaRPr lang="en-US" sz="1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33008" y="457200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validity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06611" y="370332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$2–5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9006611" y="429768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</a:t>
            </a:r>
            <a:endParaRPr lang="en-US" sz="1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Interview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006611" y="457200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$50–200 human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HireLoop Serves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personas and their jobs-to-be-done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05256" y="2203704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Leaders / TA Heads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" y="2523744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Mid-market to enterprise (50–5,000 employees)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20–500+ interns/graduates/year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Pain: "We lose 40% candidates to scheduling delays"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394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03394" y="2203704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Recruiters / TA Specialists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03394" y="2523744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 200 applicants in 2 hours, not 2 weeks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AI scores + proctoring flags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top 10%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8" name="Text 16"/>
          <p:cNvSpPr/>
          <p:nvPr/>
        </p:nvSpPr>
        <p:spPr>
          <a:xfrm>
            <a:off x="8301533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👨‍💼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01533" y="2203704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Hiring Managers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01533" y="2523744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only top 5 candidates with AI scores + proctoring reports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final rounds with structured scorecards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"Don't make me reinvent questions"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5256" y="4087368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5256" y="4407408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Auto-schedule 50 final rounds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sync (Google/Outlook)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Reminders: 24h, 2h, 15min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28" name="Text 26"/>
          <p:cNvSpPr/>
          <p:nvPr/>
        </p:nvSpPr>
        <p:spPr>
          <a:xfrm>
            <a:off x="4603394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603394" y="4087368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Interviewers (Human Rounds)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03394" y="4407408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calendar invites with prep materials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structured scorecards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Calibration across interviewers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33" name="Text 31"/>
          <p:cNvSpPr/>
          <p:nvPr/>
        </p:nvSpPr>
        <p:spPr>
          <a:xfrm>
            <a:off x="8301533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🏢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301533" y="4087368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IT / Procurement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01533" y="4407408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/ GDPR ready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 (Okta, Entra ID, Google)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Webhooks → ATS/HRIS (Greenhouse, Lever, Workday)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residency (US/EU/IN)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job posting to qualified candidate handoff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1. ADMIN: Create job → Define form → Build question bank (mandatory + variable) → Set proctoring thresholds → Publish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2. CANDIDATE: Clicks apply link → Branded form → Eligibility check → Interview link sent instantly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3. AI INTERVIEW: Consent → Proctoring setup → Mic check → Voice Q&amp;A (TTS questions → STT answers) → Auto-advance with timers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4. PROCTORING: Continuous face detection + periodic AI snapshot analysis → Cheating probability % (0–100%) → Flagged but NEVER auto-rejected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5. AI SCORING: Per-question scores (0–10) + overall weighted score + strengths/concerns/red flags → Pass/fail vs threshold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6. PIPELINE: Auto-advance to Recruiter Review → Human rounds (schedule → scorecards → panel) → Offer → Hired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7. HANDOFF: candidate.qualified webhook → ATS/HRIS → Customer manages offer, background check, onboarding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Proctoring v2: Fairness First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Cheating probability scoring — never auto-reject, always human review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</a:t>
            </a:r>
            <a:endParaRPr lang="en-US" sz="3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MediaPipe</a:t>
            </a:r>
            <a:endParaRPr lang="en-US" sz="1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30fps client-side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9404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Multi-face</a:t>
            </a:r>
            <a:endParaRPr lang="en-US" sz="3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59404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Unauthorized</a:t>
            </a:r>
            <a:endParaRPr lang="en-US" sz="1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9404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severity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008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Gaze</a:t>
            </a:r>
            <a:endParaRPr lang="en-US" sz="3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33008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Looking Away</a:t>
            </a:r>
            <a:endParaRPr lang="en-US" sz="1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&gt;3s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3008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 severity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611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</a:t>
            </a:r>
            <a:endParaRPr lang="en-US" sz="3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Switching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006611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Fullscreen</a:t>
            </a:r>
            <a:endParaRPr lang="en-US" sz="1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06611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 → Critical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Cheating Probability Score (0–100%): Critical events +25, Warnings +10, AI snapshot critical +15, warning +5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Time decay: Linear over 24h to 30% weight — recent events matter more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NEVER auto-ends interview: Flags logged, cheating % shown on dashboard, human reviews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Explicit critical violations (phone detected, second person) flag immediately but interview continues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Candidate sees: "Proctoring active" indicator; Admin sees: Probability badge + flagged timeline + snapshots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Configurable thresholds per job: Default 3 critical OR 15 warnings = flagged (adjustable)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Scoring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Gemini AI + Per-job custom rules = Best of both worlds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05256" y="2203704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AI Scoring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" y="2523744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Flash evaluates transcript vs ideal answers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Per-question score (0–10) + rationale + red flags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weighted score + pass/fail vs threshold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394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03394" y="2203704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Rules (Per Job)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03394" y="2523744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weights: Technical 1.3×, HR 0.8×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keywords: "GAAP", "reconciliation"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 keywords: "SOX", "Big 4", "CPA"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Penalty keywords: "guess", "not sure", "unfamiliar"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8" name="Text 16"/>
          <p:cNvSpPr/>
          <p:nvPr/>
        </p:nvSpPr>
        <p:spPr>
          <a:xfrm>
            <a:off x="8301533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01533" y="2203704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Rubric Overrides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01533" y="2523744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"Score 8+ only if end-to-end process shown"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"Penalize generic answers without examples"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as prompt augmentation to LLM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Default: Pure Gemini Flash scoring — works out of the box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Custom rules: Admin adds via Job Questions Editor → stored in job_roles.custom_scoring_rules JSONB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Scale tier: Webhook for fully custom scoring engine (bring your own model)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Scoring failure = never silent 0 — raises ScoringError, flags for manual review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Audit trail: Every score has question_id, prompt_text, rationale, red_flags, timestamp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Bias mitigation: Structured rubric, blind scoring option, demographic parity dashboard (Phase 2)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Boundary: Where HireLoop Ends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separation — we hand off at "Qualified Candidate List"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HireLoop Owns (In-Boundary)</a:t>
            </a:r>
            <a:pPr algn="l" indent="0" marL="0">
              <a:lnSpc>
                <a:spcPts val="140"/>
              </a:lnSpc>
              <a:buNone/>
            </a:pP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Branded application forms &amp; eligibility rules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Voice AI interviews (TTS/STT, bilingual)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Automated proctoring + cheating probability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 scoring (Gemini + custom rules)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Pipeline stages &amp; Kanban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Human round scheduling (calendar sync, self-scheduling)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Structured scorecards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Qualified candidate list + webhook handoff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Audit logs, proctoring evidence, transcripts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 Customer Owns (Out-of-Boundary)</a:t>
            </a:r>
            <a:pPr algn="l" indent="0" marL="0">
              <a:lnSpc>
                <a:spcPts val="140"/>
              </a:lnSpc>
              <a:buNone/>
            </a:pP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Offer letter creation &amp; approval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E-signature (DocuSign, HelloSign)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Background checks (Checkr, Sterling)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HRIS/Payroll onboarding (BambooHR, Workday, Rippling)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Equity/cap table (Carta, Pulley)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Benefits/insurance enrollment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Employee onboarding &amp; Day 1 ops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Visa/immigration processing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Handoff Event: candidate.qualified webhook fires when stage → partner_review / hired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Payload: application_id, candidate_id, job_id, ai_score, human_scorecards[], proctoring_flagged, cheating_probability, qualified_at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Customer integrates via webhook → their ATS/HRIS creates offer, triggers background check, provisions HRIS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HireLoop provides: Qualified candidate list, export (CSV/JSON/Parquet), scheduled exports to S3/SFTP/Sheets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No lock-in: Data export anytime, webhook replay, API access for custom integrations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We don't replace your ATS/HRIS — we feed it qualified candidates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Ecosystem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 into your existing stack — webhooks, APIs, pre-built connectors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05256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ATS Connectors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Greenhouse, Lever, Ashby, Teamtailor, Workable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Bidirectional: Jobs ↔ Candidates ↔ Scores ↔ Stages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3" name="Text 11"/>
          <p:cNvSpPr/>
          <p:nvPr/>
        </p:nvSpPr>
        <p:spPr>
          <a:xfrm>
            <a:off x="3678860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78860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HRIS Connectors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78860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Workday, BambooHR, Rippling, Deel, Keka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Webhook: candidate.qualified → Worker creation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8" name="Text 16"/>
          <p:cNvSpPr/>
          <p:nvPr/>
        </p:nvSpPr>
        <p:spPr>
          <a:xfrm>
            <a:off x="6452464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52464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&amp; Video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52464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Calendar, Outlook, Calendly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Zoom, Teams, Meet, Whereby links auto-generated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23" name="Text 21"/>
          <p:cNvSpPr/>
          <p:nvPr/>
        </p:nvSpPr>
        <p:spPr>
          <a:xfrm>
            <a:off x="9226067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✍️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26067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E-Sign &amp; Checks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26067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DocuSign, HelloSign, Adobe Sign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Checkr, Sterling, First Advantage via webhook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28" name="Text 26"/>
          <p:cNvSpPr/>
          <p:nvPr/>
        </p:nvSpPr>
        <p:spPr>
          <a:xfrm>
            <a:off x="905256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🔌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05256" y="4087368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Webhooks (14 Events)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05256" y="4407408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application.created, interview.completed, score.available, stage.changed, candidate.qualified, offer.sent, offer.accepted, candidate.hired + 6 more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33" name="Text 31"/>
          <p:cNvSpPr/>
          <p:nvPr/>
        </p:nvSpPr>
        <p:spPr>
          <a:xfrm>
            <a:off x="367886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📡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678860" y="4087368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v1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78860" y="4407408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Jobs, Applications, Candidates, Scores, Stages, Offers — scoped API keys with granular scopes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38" name="Text 36"/>
          <p:cNvSpPr/>
          <p:nvPr/>
        </p:nvSpPr>
        <p:spPr>
          <a:xfrm>
            <a:off x="6452464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452464" y="4087368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Scheduled Exports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52464" y="4407408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CSV/JSON/Parquet → S3, SFTP, GCS, Email, Google Sheets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Daily/hourly/weekly — field mapping UI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43" name="Text 41"/>
          <p:cNvSpPr/>
          <p:nvPr/>
        </p:nvSpPr>
        <p:spPr>
          <a:xfrm>
            <a:off x="9226067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🔐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9226067" y="4087368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 &amp; SCIM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226067" y="4407408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SAML/OIDC (Okta, Entra ID, Google)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SCIM provisioning for auto-deprovision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mapping: Owner/Admin/Recruiter/HiringManager/Interviewer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Security, Privacy &amp; Compliance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Enterprise-grade from day one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</a:t>
            </a:r>
            <a:endParaRPr lang="en-US" sz="3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II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Q4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9404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</a:t>
            </a:r>
            <a:endParaRPr lang="en-US" sz="3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59404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DPA Available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9404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 28 DPA standard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008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3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Residency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33008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 / EU / 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3008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multi-region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611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Encryption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006611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AES-256 / TLS 1.3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06611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rest + in transit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Row-Level Security (RLS) on every table — org isolation enforced at DB level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Service-role key only in backend; anon key for public apply pages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Proctoring snapshots: private bucket, signed URLs (1hr), path = {session_id}/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Answer audio: private bucket, service-role only, auto-delete after scoring (configurable)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PII handling: Email/name/phone flagged; excluded from analytics exports by default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Right to Erasure: DELETE /v1/candidates/{id} cascades (applications, sessions, scores, docs)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Data Processing Addendum (DPA) standard for Scale+ tiers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Penetration testing annually; OWASP Top 10 covered; bug bounty program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Transparent Pricing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AI interview completed — no per-seat, no hidden fees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05256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$299/mo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AI interviews/mo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team seats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jobs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support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$5/extra interview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3" name="Text 11"/>
          <p:cNvSpPr/>
          <p:nvPr/>
        </p:nvSpPr>
        <p:spPr>
          <a:xfrm>
            <a:off x="3678860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78860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78860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$999/mo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 AI interviews/mo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seats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jobs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Webhooks + API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support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$4/extra interview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8" name="Text 16"/>
          <p:cNvSpPr/>
          <p:nvPr/>
        </p:nvSpPr>
        <p:spPr>
          <a:xfrm>
            <a:off x="6452464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52464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52464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$2,999/mo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1,000 AI interviews/mo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seats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Unlimited jobs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SSO/SAML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exports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CSM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$3/extra interview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23" name="Text 21"/>
          <p:cNvSpPr/>
          <p:nvPr/>
        </p:nvSpPr>
        <p:spPr>
          <a:xfrm>
            <a:off x="9226067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💎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26067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26067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discounts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White-label candidate portal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domain (careers.yourco.com)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On-prem / VPC deployment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infrastructure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SLA (99.9%+)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scoring webhook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"AI Interview" = one completed candidate session (regardless of question count)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Human rounds, scorecards, scheduling, offers — included in all tiers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No per-seat fees for interviewers/hiring managers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14-day free trial (10 AI interviews) — no credit card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Annual billing: 20% discount | Non-profit/edu: 50% off Growth+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Usage metering: Real-time dashboard + alerts at 80%/100%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14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Started in 3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zero to first AI interview in under an hour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1️⃣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05256" y="2203704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1: Organization Setup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" y="2523744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Sign up → Org created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Invite team (8 roles)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Add departments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Select pipeline template (Graduate / Internship / Custom)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Brand: logo, colors, intro video, email templates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394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2️⃣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03394" y="2203704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2: Create Your First Job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03394" y="2523744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Job wizard (5 steps): Details → Form → Questions → Rules → Publish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Build question bank (mandatory + variable)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Set proctoring thresholds &amp; passing score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Configure custom scoring rules (optional)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Publish → Get apply link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8" name="Text 16"/>
          <p:cNvSpPr/>
          <p:nvPr/>
        </p:nvSpPr>
        <p:spPr>
          <a:xfrm>
            <a:off x="8301533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3️⃣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01533" y="2203704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3: Invite Candidates &amp; Go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01533" y="2523744"/>
            <a:ext cx="29849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Share apply link (careers page, email, LinkedIn, QR)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Candidates apply → instant eligibility → interview link emailed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Watch dashboard: real-time applications, interviews, scores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Move qualified → human rounds → offers → hired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Sandbox environment: Full-featured trial org with test candidates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Migration help: CSV import for existing candidates/questions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Dedicated onboarding specialist (Growth+ tiers)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Documentation: docs.hireloop.com | API: api.hireloop.com/docs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Support: In-app chat, email, Slack connect (Scale+)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SLA: 99.5% uptime (Scale), 99.9% (Custom)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14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Roadmap: 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innovation — driven by customer feedback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05256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 audit dashboard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 parity on scores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performance analytics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time-to-hire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3" name="Text 11"/>
          <p:cNvSpPr/>
          <p:nvPr/>
        </p:nvSpPr>
        <p:spPr>
          <a:xfrm>
            <a:off x="3678860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78860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78860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AI-suggested follow-up questions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Auto-generated scorecard templates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Interviewer calibration reports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benchmarking (anonymized)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18" name="Text 16"/>
          <p:cNvSpPr/>
          <p:nvPr/>
        </p:nvSpPr>
        <p:spPr>
          <a:xfrm>
            <a:off x="6452464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🔌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52464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52464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SSO/SCIM full rollout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ATS connectors (Workday, SAP)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scoring webhook (bring your model)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White-label candidate portal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ellipse">
            <a:avLst/>
          </a:prstGeom>
          <a:solidFill>
            <a:srgbClr val="FFF0E0"/>
          </a:solidFill>
          <a:ln/>
        </p:spPr>
      </p:sp>
      <p:sp>
        <p:nvSpPr>
          <p:cNvPr id="23" name="Text 21"/>
          <p:cNvSpPr/>
          <p:nvPr/>
        </p:nvSpPr>
        <p:spPr>
          <a:xfrm>
            <a:off x="9226067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20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26067" y="2203704"/>
            <a:ext cx="2060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26067" y="2523744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10+ languages (ES, FR, DE, JA, ZH, PT)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referral portal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assessments integration</a:t>
            </a:r>
            <a:endParaRPr lang="en-US" sz="1200" dirty="0"/>
          </a:p>
          <a:p>
            <a:pPr algn="l" indent="0" marL="0">
              <a:lnSpc>
                <a:spcPts val="14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check automation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to Transform Your Hiring?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100+ companies screening smarter, faster, fairer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</a:t>
            </a:r>
            <a:endParaRPr lang="en-US" sz="1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→ Interview in minutes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9404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59404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59404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every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008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33008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3008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Candidate-friendly UX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611" y="1508760"/>
            <a:ext cx="24992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3200" b="1" dirty="0">
                <a:solidFill>
                  <a:srgbClr val="FF6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006611" y="2103120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200" dirty="0"/>
          </a:p>
          <a:p>
            <a:pPr algn="ctr" indent="0" marL="0">
              <a:lnSpc>
                <a:spcPts val="135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06611" y="2377440"/>
            <a:ext cx="2499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traditional screening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4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Start free: hireloop.com → "Start Free Trial" (10 AI interviews, no credit card)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Book a demo: calendly.com/hireloop/demo — 30 min tailored walkthrough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Technical deep-dive: api.hireloop.com/docs | docs.hireloop.com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Email: hello@hireloop.com | Slack: slack.hireloop.com</a:t>
            </a:r>
            <a:pPr algn="l" indent="0" marL="0">
              <a:lnSpc>
                <a:spcPts val="14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We're not just an interview tool — we're your AI hiring infrastructure partner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626364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HireLoop  •  AI Interview Infrastructure Platform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0" y="6263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5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2026-07-18T17:32:26Z</dcterms:created>
  <dcterms:modified xsi:type="dcterms:W3CDTF">2026-07-18T17:32:26Z</dcterms:modified>
</cp:coreProperties>
</file>